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heme" Target="theme/theme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Porta, and those bare crowns are plane trees. Barcelona has decided to remove more than half of them in ten years. My thesis is about one decision the city has not taken: which species goes back, where, and what that does to heat and to storm water.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starting point is not a proposal, it is a decision. Barcelona's plane is more than a quarter of the city's trees, and the master plan says no species may exceed fifteen percent. The city has announced it will cut the planes by more than half, to twelve percent, within ten years. Nobody plants them all at once. Each one is replaced when it dies or when its street is rebuilt. That makes thousands of small decisions over the next decade.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So I read the plan and the city's 2011 street-tree guide. On the left is what the city has decided: how much of each species, how and when to replace, which species may be used, and which tree size fits which sidewalk. On the right is what it has not decided. First, which species goes at each position. The city says it chooses from criteria such as orientation, space, soil and desired shade, but that list is not public, and nothing puts a number on the choice. Second, what each choice does to heat and to runoff. Third, where heat and flooding overlap, because the plan is city-wide. My thesis is the right-hand column. It takes the left-hand column as hard constraints.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Why does it matter which species? Because the replacements are very different trees. Here is crown area as a share of a plane's crown, at the same trunk size, for the trees standing in Porta today, from the 2021 laser scan. Tipuana and Jacaranda carry about the same crown as a plane. Melia carries three quarters. Celtis, Pyrus and Brachychiton carry between a quarter and a half. Every one of these choices follows the city's rules, and yet the shade and rain interception left on the street can differ by a factor of three to four. This also sets two of the plan's own targets against each other: diversity on one side, canopy cover on the other.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losses would matter most where heat and flooding overlap. I screened all seventy-three neighbourhoods with open data. To qualify, a neighbourhood had to be above the city's sixtieth percentile for flood hazard, for surface heat and for plane density at the same time. Porta comes first at every threshold I tried. It has eight hundred and thirty-two plane trees. And every replacement species the city names already grows there, so I can measure them rather than assume them.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literature gives the mechanism. The same crown traits drive both services: crown size and leaf area set how much shade a tree casts and how much rain it holds back. But some traits pull apart. An evergreen crown intercepts winter rain and also blocks winter sun. So I expect gains on both goals together, and a real trade-off at the margin.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gap is the same in practice and in research. The city has rules and qualitative criteria, but no quantities. Studies assess heat and runoff for fixed scenarios without species traits, or optimise trees for heat only. The most advanced trait-based recommender, SylvCiT, has its runoff module switched off. Nobody gives, position by position, the rule-compliant species that keeps the most cooling and the most rain interception.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So the question. In Porta, as the planes are replaced under the master plan, which species, chosen within the plan's rules, and at which positions, jointly reduce pedestrian heat stress and event runoff? I measure heat stress as mean felt temperature over the afternoon of a hot day, and runoff for one-, two- and ten-year design storms. And how large is the trade-off between the two? The comparison is new. It is not against a random palette but against the city's own replacement: its announced species mix, placed by its own sizing rule. That is what happens anyway if this method does not exist.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One risk could have killed the optimisation. The 2011 guide sets the tree size by sidewalk width. If most sidewalks were narrow, only one species would fit and there would be nothing to choose. So I measured the sidewalk at every plane, from façade to kerb, on the city's 1:1000 map, and checked twenty trees by eye. Four hundred positions have a proper sidewalk, and only fifteen of them are forced to Pyrus or to no tree. The rest keep three species each. The other four hundred and thirty-two are medians, boulevards and plaza edges. There the rule does not apply as written, and I state that as an assumption.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Two hypotheses. One, synergy: under the same rules, trait-based choices beat the city's own replacement on both goals, because crown size and leaf area drive both. Two, trade-off: the heat optimum and the runoff optimum differ in species. The method is unchanged from last time. A laser scan gives each tree's crown. A runoff module and a heat module score each layout. An optimiser picks a species per position, now under the plan's rules as hard constraints. Because trees are replaced one street at a time, it also works on any subset of positions.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tool already runs end to end. In the version before v6, an optimised layout gave sixteen percent more summer shade than a random one, and that held across eight sensitivity variants. But those runs were against a random palette and without the sizing rule. The next run uses the city's replacement as the baseline and the sidewalk constraint. That comparison is the result the thesis is built 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Three things are still open, and I have asked the city about each. If there is an internal replacement list, it becomes my baseline, and my contribution narrows to the numbers. That is fine. I also asked which avenues keep their planes, because Meridiana alone holds a hundred and ninety-four of Porta's. Until they answer, I state my assumptions. My question to you: is the city's own replacement the right baseline for the main result?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0EA"/>
        </a:solidFill>
        <a:effectLst/>
      </p:bgPr>
    </p:bg>
    <p:spTree>
      <p:nvGrpSpPr>
        <p:cNvPr id="1" name=""/>
        <p:cNvGrpSpPr/>
        <p:nvPr/>
      </p:nvGrpSpPr>
      <p:grpSpPr>
        <a:xfrm>
          <a:off x="0" y="0"/>
          <a:ext cx="0" cy="0"/>
          <a:chOff x="0" y="0"/>
          <a:chExt cx="0" cy="0"/>
        </a:xfrm>
      </p:grpSpPr>
      <p:pic>
        <p:nvPicPr>
          <p:cNvPr id="259" name="Picture 1" descr="01_title.jpg"/>
          <p:cNvPicPr>
            <a:picLocks noChangeAspect="1"/>
          </p:cNvPicPr>
          <p:nvPr/>
        </p:nvPicPr>
        <p:blipFill rotWithShape="1">
          <a:blip r:embed="rId3"/>
          <a:stretch>
            <a:fillRect/>
          </a:stretch>
        </p:blipFill>
        <p:spPr>
          <a:xfrm>
            <a:off x="0" y="0"/>
            <a:ext cx="12192000" cy="6858000"/>
          </a:xfrm>
          <a:prstGeom prst="rect">
            <a:avLst/>
          </a:prstGeom>
        </p:spPr>
      </p:pic>
      <p:sp>
        <p:nvSpPr>
          <p:cNvPr id="260" name="Rectangle 2"/>
          <p:cNvSpPr/>
          <p:nvPr/>
        </p:nvSpPr>
        <p:spPr>
          <a:xfrm>
            <a:off x="609600" y="2159000"/>
            <a:ext cx="660400" cy="50800"/>
          </a:xfrm>
          <a:prstGeom prst="rect">
            <a:avLst/>
          </a:prstGeom>
          <a:solidFill>
            <a:srgbClr val="BA9546"/>
          </a:solidFill>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1" name="TextBox 3"/>
          <p:cNvSpPr txBox="1"/>
          <p:nvPr/>
        </p:nvSpPr>
        <p:spPr>
          <a:xfrm>
            <a:off x="609600" y="2349500"/>
            <a:ext cx="7620000" cy="853440"/>
          </a:xfrm>
          <a:prstGeom prst="rect">
            <a:avLst/>
          </a:prstGeom>
        </p:spPr>
        <p:txBody>
          <a:bodyPr wrap="square">
            <a:spAutoFit/>
          </a:bodyPr>
          <a:lstStyle/>
          <a:p>
            <a:r>
              <a:rPr sz="5000" b="1">
                <a:solidFill>
                  <a:srgbClr val="F2F0EA"/>
                </a:solidFill>
              </a:rPr>
              <a:t>Shade and Sponge</a:t>
            </a:r>
            <a:endParaRPr sz="5000" b="1">
              <a:solidFill>
                <a:srgbClr val="F2F0EA"/>
              </a:solidFill>
            </a:endParaRPr>
          </a:p>
        </p:txBody>
      </p:sp>
      <p:sp>
        <p:nvSpPr>
          <p:cNvPr id="262" name="TextBox 4"/>
          <p:cNvSpPr txBox="1"/>
          <p:nvPr/>
        </p:nvSpPr>
        <p:spPr>
          <a:xfrm>
            <a:off x="609600" y="3238500"/>
            <a:ext cx="6604000" cy="868680"/>
          </a:xfrm>
          <a:prstGeom prst="rect">
            <a:avLst/>
          </a:prstGeom>
        </p:spPr>
        <p:txBody>
          <a:bodyPr wrap="square">
            <a:spAutoFit/>
          </a:bodyPr>
          <a:lstStyle/>
          <a:p>
            <a:r>
              <a:rPr sz="1700" b="0">
                <a:solidFill>
                  <a:srgbClr val="F2F0EA"/>
                </a:solidFill>
              </a:rPr>
              <a:t>A computational method for choosing which species replace Barcelona's plane trees, and where, scored on summer heat and on storm runoff.</a:t>
            </a:r>
            <a:endParaRPr sz="1700" b="0">
              <a:solidFill>
                <a:srgbClr val="F2F0EA"/>
              </a:solidFill>
            </a:endParaRPr>
          </a:p>
        </p:txBody>
      </p:sp>
      <p:sp>
        <p:nvSpPr>
          <p:cNvPr id="263" name="TextBox 5"/>
          <p:cNvSpPr txBox="1"/>
          <p:nvPr/>
        </p:nvSpPr>
        <p:spPr>
          <a:xfrm>
            <a:off x="609600" y="4381500"/>
            <a:ext cx="6604000" cy="289560"/>
          </a:xfrm>
          <a:prstGeom prst="rect">
            <a:avLst/>
          </a:prstGeom>
        </p:spPr>
        <p:txBody>
          <a:bodyPr wrap="square">
            <a:spAutoFit/>
          </a:bodyPr>
          <a:lstStyle/>
          <a:p>
            <a:r>
              <a:rPr sz="1300" b="0">
                <a:solidFill>
                  <a:srgbClr val="B3BAB9"/>
                </a:solidFill>
              </a:rPr>
              <a:t>MaCAD, IAAC  ·  Tutor session, v6 draft</a:t>
            </a:r>
            <a:endParaRPr sz="1300" b="0">
              <a:solidFill>
                <a:srgbClr val="B3BAB9"/>
              </a:solidFill>
            </a:endParaRPr>
          </a:p>
        </p:txBody>
      </p:sp>
      <p:sp>
        <p:nvSpPr>
          <p:cNvPr id="264" name="TextBox 6"/>
          <p:cNvSpPr txBox="1"/>
          <p:nvPr/>
        </p:nvSpPr>
        <p:spPr>
          <a:xfrm>
            <a:off x="609600" y="6286500"/>
            <a:ext cx="10922000" cy="228600"/>
          </a:xfrm>
          <a:prstGeom prst="rect">
            <a:avLst/>
          </a:prstGeom>
        </p:spPr>
        <p:txBody>
          <a:bodyPr wrap="square">
            <a:spAutoFit/>
          </a:bodyPr>
          <a:lstStyle/>
          <a:p>
            <a:r>
              <a:rPr sz="900" b="0">
                <a:solidFill>
                  <a:srgbClr val="B3BAB9"/>
                </a:solidFill>
              </a:rPr>
              <a:t>Horts urbans de Porta, Carrer d'Alcúdia × Carrer de la Maladeta, Nou Barris: the bare crowns in the foreground are the plane trees this thesis is about.</a:t>
            </a:r>
            <a:endParaRPr sz="900" b="0">
              <a:solidFill>
                <a:srgbClr val="B3BAB9"/>
              </a:solidFill>
            </a:endParaRPr>
          </a:p>
        </p:txBody>
      </p:sp>
      <p:sp>
        <p:nvSpPr>
          <p:cNvPr id="342" name="Slide Number Placeholder"/>
          <p:cNvSpPr>
            <a:spLocks noGrp="1"/>
          </p:cNvSpPr>
          <p:nvPr>
            <p:ph type="sldNum" idx="12"/>
          </p:nvPr>
        </p:nvSpPr>
        <p:spPr/>
        <p:txBody>
          <a:bodyPr/>
          <a:lstStyle/>
          <a:p>
            <a:fld id="{FD4E0D67-8901-4D8D-881D-3D861B2E5AE2}" type="slidenum">
              <a:rPr/>
              <a:t>‹#›</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decision is already taken</a:t>
            </a:r>
            <a:endParaRPr sz="2400" b="1">
              <a:solidFill>
                <a:srgbClr val="2A2622"/>
              </a:solidFill>
            </a:endParaRPr>
          </a:p>
        </p:txBody>
      </p:sp>
      <p:sp>
        <p:nvSpPr>
          <p:cNvPr id="267" name="TextBox 2"/>
          <p:cNvSpPr txBox="1"/>
          <p:nvPr/>
        </p:nvSpPr>
        <p:spPr>
          <a:xfrm>
            <a:off x="508000" y="762000"/>
            <a:ext cx="11176000" cy="289560"/>
          </a:xfrm>
          <a:prstGeom prst="rect">
            <a:avLst/>
          </a:prstGeom>
        </p:spPr>
        <p:txBody>
          <a:bodyPr wrap="square">
            <a:spAutoFit/>
          </a:bodyPr>
          <a:lstStyle/>
          <a:p>
            <a:r>
              <a:rPr sz="1300" b="0">
                <a:solidFill>
                  <a:srgbClr val="665E4F"/>
                </a:solidFill>
              </a:rPr>
              <a:t>Barcelona's tree master plan 2017–2037 and the 2026 plane target</a:t>
            </a:r>
            <a:endParaRPr sz="1300" b="0">
              <a:solidFill>
                <a:srgbClr val="665E4F"/>
              </a:solidFill>
            </a:endParaRPr>
          </a:p>
        </p:txBody>
      </p:sp>
      <p:sp>
        <p:nvSpPr>
          <p:cNvPr id="268" name="Rectangle 3"/>
          <p:cNvSpPr/>
          <p:nvPr/>
        </p:nvSpPr>
        <p:spPr>
          <a:xfrm>
            <a:off x="508000" y="1651000"/>
            <a:ext cx="3556000" cy="50800"/>
          </a:xfrm>
          <a:prstGeom prst="rect">
            <a:avLst/>
          </a:prstGeom>
          <a:solidFill>
            <a:srgbClr val="3F66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9" name="TextBox 4"/>
          <p:cNvSpPr txBox="1"/>
          <p:nvPr/>
        </p:nvSpPr>
        <p:spPr>
          <a:xfrm>
            <a:off x="508000" y="1841500"/>
            <a:ext cx="3556000" cy="548640"/>
          </a:xfrm>
          <a:prstGeom prst="rect">
            <a:avLst/>
          </a:prstGeom>
        </p:spPr>
        <p:txBody>
          <a:bodyPr wrap="square">
            <a:spAutoFit/>
          </a:bodyPr>
          <a:lstStyle/>
          <a:p>
            <a:r>
              <a:rPr sz="3000" b="1">
                <a:solidFill>
                  <a:srgbClr val="3F663E"/>
                </a:solidFill>
              </a:rPr>
              <a:t>27.45% → 12%</a:t>
            </a:r>
            <a:endParaRPr sz="3000" b="1">
              <a:solidFill>
                <a:srgbClr val="3F663E"/>
              </a:solidFill>
            </a:endParaRPr>
          </a:p>
        </p:txBody>
      </p:sp>
      <p:sp>
        <p:nvSpPr>
          <p:cNvPr id="270" name="TextBox 5"/>
          <p:cNvSpPr txBox="1"/>
          <p:nvPr/>
        </p:nvSpPr>
        <p:spPr>
          <a:xfrm>
            <a:off x="508000" y="2540000"/>
            <a:ext cx="3429000" cy="731520"/>
          </a:xfrm>
          <a:prstGeom prst="rect">
            <a:avLst/>
          </a:prstGeom>
        </p:spPr>
        <p:txBody>
          <a:bodyPr wrap="square">
            <a:spAutoFit/>
          </a:bodyPr>
          <a:lstStyle/>
          <a:p>
            <a:r>
              <a:rPr sz="1400" b="0">
                <a:solidFill>
                  <a:srgbClr val="2A2622"/>
                </a:solidFill>
              </a:rPr>
              <a:t>43,722 plane trees, cut to 12% of the city stock within ten years (press, May 2026)</a:t>
            </a:r>
            <a:endParaRPr sz="1400" b="0">
              <a:solidFill>
                <a:srgbClr val="2A2622"/>
              </a:solidFill>
            </a:endParaRPr>
          </a:p>
        </p:txBody>
      </p:sp>
      <p:sp>
        <p:nvSpPr>
          <p:cNvPr id="271" name="Rectangle 6"/>
          <p:cNvSpPr/>
          <p:nvPr/>
        </p:nvSpPr>
        <p:spPr>
          <a:xfrm>
            <a:off x="4318000" y="1651000"/>
            <a:ext cx="3556000" cy="50800"/>
          </a:xfrm>
          <a:prstGeom prst="rect">
            <a:avLst/>
          </a:prstGeom>
          <a:solidFill>
            <a:srgbClr val="3F66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72" name="TextBox 7"/>
          <p:cNvSpPr txBox="1"/>
          <p:nvPr/>
        </p:nvSpPr>
        <p:spPr>
          <a:xfrm>
            <a:off x="4318000" y="1841500"/>
            <a:ext cx="3556000" cy="548640"/>
          </a:xfrm>
          <a:prstGeom prst="rect">
            <a:avLst/>
          </a:prstGeom>
        </p:spPr>
        <p:txBody>
          <a:bodyPr wrap="square">
            <a:spAutoFit/>
          </a:bodyPr>
          <a:lstStyle/>
          <a:p>
            <a:r>
              <a:rPr sz="3000" b="1">
                <a:solidFill>
                  <a:srgbClr val="3F663E"/>
                </a:solidFill>
              </a:rPr>
              <a:t>≤ 15%</a:t>
            </a:r>
            <a:endParaRPr sz="3000" b="1">
              <a:solidFill>
                <a:srgbClr val="3F663E"/>
              </a:solidFill>
            </a:endParaRPr>
          </a:p>
        </p:txBody>
      </p:sp>
      <p:sp>
        <p:nvSpPr>
          <p:cNvPr id="273" name="TextBox 8"/>
          <p:cNvSpPr txBox="1"/>
          <p:nvPr/>
        </p:nvSpPr>
        <p:spPr>
          <a:xfrm>
            <a:off x="4318000" y="2540000"/>
            <a:ext cx="3429000" cy="518160"/>
          </a:xfrm>
          <a:prstGeom prst="rect">
            <a:avLst/>
          </a:prstGeom>
        </p:spPr>
        <p:txBody>
          <a:bodyPr wrap="square">
            <a:spAutoFit/>
          </a:bodyPr>
          <a:lstStyle/>
          <a:p>
            <a:r>
              <a:rPr sz="1400" b="0">
                <a:solidFill>
                  <a:srgbClr val="2A2622"/>
                </a:solidFill>
              </a:rPr>
              <a:t>no species above 15% of the urban fabric (tree master plan 2017–2037)</a:t>
            </a:r>
            <a:endParaRPr sz="1400" b="0">
              <a:solidFill>
                <a:srgbClr val="2A2622"/>
              </a:solidFill>
            </a:endParaRPr>
          </a:p>
        </p:txBody>
      </p:sp>
      <p:sp>
        <p:nvSpPr>
          <p:cNvPr id="274" name="Rectangle 9"/>
          <p:cNvSpPr/>
          <p:nvPr/>
        </p:nvSpPr>
        <p:spPr>
          <a:xfrm>
            <a:off x="8128000" y="1651000"/>
            <a:ext cx="3556000" cy="50800"/>
          </a:xfrm>
          <a:prstGeom prst="rect">
            <a:avLst/>
          </a:prstGeom>
          <a:solidFill>
            <a:srgbClr val="3F663E"/>
          </a:solidFill>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75" name="TextBox 10"/>
          <p:cNvSpPr txBox="1"/>
          <p:nvPr/>
        </p:nvSpPr>
        <p:spPr>
          <a:xfrm>
            <a:off x="8128000" y="1841500"/>
            <a:ext cx="3556000" cy="548640"/>
          </a:xfrm>
          <a:prstGeom prst="rect">
            <a:avLst/>
          </a:prstGeom>
        </p:spPr>
        <p:txBody>
          <a:bodyPr wrap="square">
            <a:spAutoFit/>
          </a:bodyPr>
          <a:lstStyle/>
          <a:p>
            <a:r>
              <a:rPr sz="3000" b="1">
                <a:solidFill>
                  <a:srgbClr val="3F663E"/>
                </a:solidFill>
              </a:rPr>
              <a:t>one at a time</a:t>
            </a:r>
            <a:endParaRPr sz="3000" b="1">
              <a:solidFill>
                <a:srgbClr val="3F663E"/>
              </a:solidFill>
            </a:endParaRPr>
          </a:p>
        </p:txBody>
      </p:sp>
      <p:sp>
        <p:nvSpPr>
          <p:cNvPr id="276" name="TextBox 11"/>
          <p:cNvSpPr txBox="1"/>
          <p:nvPr/>
        </p:nvSpPr>
        <p:spPr>
          <a:xfrm>
            <a:off x="8128000" y="2540000"/>
            <a:ext cx="3429000" cy="518160"/>
          </a:xfrm>
          <a:prstGeom prst="rect">
            <a:avLst/>
          </a:prstGeom>
        </p:spPr>
        <p:txBody>
          <a:bodyPr wrap="square">
            <a:spAutoFit/>
          </a:bodyPr>
          <a:lstStyle/>
          <a:p>
            <a:r>
              <a:rPr sz="1400" b="0">
                <a:solidFill>
                  <a:srgbClr val="2A2622"/>
                </a:solidFill>
              </a:rPr>
              <a:t>each tree is replaced when it dies or when its street is rebuilt</a:t>
            </a:r>
            <a:endParaRPr sz="1400" b="0">
              <a:solidFill>
                <a:srgbClr val="2A2622"/>
              </a:solidFill>
            </a:endParaRPr>
          </a:p>
        </p:txBody>
      </p:sp>
      <p:sp>
        <p:nvSpPr>
          <p:cNvPr id="277" name="TextBox 12"/>
          <p:cNvSpPr txBox="1"/>
          <p:nvPr/>
        </p:nvSpPr>
        <p:spPr>
          <a:xfrm>
            <a:off x="508000" y="4826000"/>
            <a:ext cx="11176000" cy="365760"/>
          </a:xfrm>
          <a:prstGeom prst="rect">
            <a:avLst/>
          </a:prstGeom>
        </p:spPr>
        <p:txBody>
          <a:bodyPr wrap="square">
            <a:spAutoFit/>
          </a:bodyPr>
          <a:lstStyle/>
          <a:p>
            <a:r>
              <a:rPr sz="1800" b="1">
                <a:solidFill>
                  <a:srgbClr val="2A2622"/>
                </a:solidFill>
              </a:rPr>
              <a:t>Thousands of small decisions over the next decade. Which species goes back, and where, is still open.</a:t>
            </a:r>
            <a:endParaRPr sz="1800" b="1">
              <a:solidFill>
                <a:srgbClr val="2A2622"/>
              </a:solidFill>
            </a:endParaRPr>
          </a:p>
        </p:txBody>
      </p:sp>
      <p:sp>
        <p:nvSpPr>
          <p:cNvPr id="345" name="Slide Number Placeholder"/>
          <p:cNvSpPr>
            <a:spLocks noGrp="1"/>
          </p:cNvSpPr>
          <p:nvPr>
            <p:ph type="sldNum" idx="12"/>
          </p:nvPr>
        </p:nvSpPr>
        <p:spPr/>
        <p:txBody>
          <a:bodyPr/>
          <a:lstStyle/>
          <a:p>
            <a:fld id="{00266782-2A85-475A-865E-BAD95958CDD5}" type="slidenum">
              <a:rPr/>
              <a:t>‹#›</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city decided how much, not which species where</a:t>
            </a:r>
            <a:endParaRPr sz="2400" b="1">
              <a:solidFill>
                <a:srgbClr val="2A2622"/>
              </a:solidFill>
            </a:endParaRPr>
          </a:p>
        </p:txBody>
      </p:sp>
      <p:sp>
        <p:nvSpPr>
          <p:cNvPr id="280" name="TextBox 2"/>
          <p:cNvSpPr txBox="1"/>
          <p:nvPr/>
        </p:nvSpPr>
        <p:spPr>
          <a:xfrm>
            <a:off x="508000" y="762000"/>
            <a:ext cx="11176000" cy="289560"/>
          </a:xfrm>
          <a:prstGeom prst="rect">
            <a:avLst/>
          </a:prstGeom>
        </p:spPr>
        <p:txBody>
          <a:bodyPr wrap="square">
            <a:spAutoFit/>
          </a:bodyPr>
          <a:lstStyle/>
          <a:p>
            <a:r>
              <a:rPr sz="1300" b="0">
                <a:solidFill>
                  <a:srgbClr val="665E4F"/>
                </a:solidFill>
              </a:rPr>
              <a:t>Barcelona's tree master plan (2017–2037) and street-tree guide (2011), read 20 Oct</a:t>
            </a:r>
            <a:endParaRPr sz="1300" b="0">
              <a:solidFill>
                <a:srgbClr val="665E4F"/>
              </a:solidFill>
            </a:endParaRPr>
          </a:p>
        </p:txBody>
      </p:sp>
      <p:pic>
        <p:nvPicPr>
          <p:cNvPr id="282" name="Picture 3" descr="v6_03_decided.png"/>
          <p:cNvPicPr>
            <a:picLocks noChangeAspect="1"/>
          </p:cNvPicPr>
          <p:nvPr/>
        </p:nvPicPr>
        <p:blipFill rotWithShape="1">
          <a:blip r:embed="rId3"/>
          <a:stretch>
            <a:fillRect/>
          </a:stretch>
        </p:blipFill>
        <p:spPr>
          <a:xfrm>
            <a:off x="508000" y="1219200"/>
            <a:ext cx="11176000" cy="5372100"/>
          </a:xfrm>
          <a:prstGeom prst="rect">
            <a:avLst/>
          </a:prstGeom>
        </p:spPr>
      </p:pic>
      <p:sp>
        <p:nvSpPr>
          <p:cNvPr id="348" name="Slide Number Placeholder"/>
          <p:cNvSpPr>
            <a:spLocks noGrp="1"/>
          </p:cNvSpPr>
          <p:nvPr>
            <p:ph type="sldNum" idx="12"/>
          </p:nvPr>
        </p:nvSpPr>
        <p:spPr/>
        <p:txBody>
          <a:bodyPr/>
          <a:lstStyle/>
          <a:p>
            <a:fld id="{10D219E0-3C5E-43C7-87F2-6F36B66D5D50}" type="slidenum">
              <a:rPr/>
              <a:t>‹#›</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replacements differ: from a full crown to a quarter of one</a:t>
            </a:r>
            <a:endParaRPr sz="2400" b="1">
              <a:solidFill>
                <a:srgbClr val="2A2622"/>
              </a:solidFill>
            </a:endParaRPr>
          </a:p>
        </p:txBody>
      </p:sp>
      <p:sp>
        <p:nvSpPr>
          <p:cNvPr id="285" name="TextBox 2"/>
          <p:cNvSpPr txBox="1"/>
          <p:nvPr/>
        </p:nvSpPr>
        <p:spPr>
          <a:xfrm>
            <a:off x="508000" y="762000"/>
            <a:ext cx="11176000" cy="289560"/>
          </a:xfrm>
          <a:prstGeom prst="rect">
            <a:avLst/>
          </a:prstGeom>
        </p:spPr>
        <p:txBody>
          <a:bodyPr wrap="square">
            <a:spAutoFit/>
          </a:bodyPr>
          <a:lstStyle/>
          <a:p>
            <a:r>
              <a:rPr sz="1300" b="0">
                <a:solidFill>
                  <a:srgbClr val="665E4F"/>
                </a:solidFill>
              </a:rPr>
              <a:t>Same trunk size, very different shade and interception — the choice of species decides the canopy</a:t>
            </a:r>
            <a:endParaRPr sz="1300" b="0">
              <a:solidFill>
                <a:srgbClr val="665E4F"/>
              </a:solidFill>
            </a:endParaRPr>
          </a:p>
        </p:txBody>
      </p:sp>
      <p:pic>
        <p:nvPicPr>
          <p:cNvPr id="287" name="Picture 3" descr="v6_04_crowns.png"/>
          <p:cNvPicPr>
            <a:picLocks noChangeAspect="1"/>
          </p:cNvPicPr>
          <p:nvPr/>
        </p:nvPicPr>
        <p:blipFill rotWithShape="1">
          <a:blip r:embed="rId3"/>
          <a:stretch>
            <a:fillRect/>
          </a:stretch>
        </p:blipFill>
        <p:spPr>
          <a:xfrm>
            <a:off x="508000" y="1219200"/>
            <a:ext cx="11176000" cy="5372100"/>
          </a:xfrm>
          <a:prstGeom prst="rect">
            <a:avLst/>
          </a:prstGeom>
        </p:spPr>
      </p:pic>
      <p:sp>
        <p:nvSpPr>
          <p:cNvPr id="351" name="Slide Number Placeholder"/>
          <p:cNvSpPr>
            <a:spLocks noGrp="1"/>
          </p:cNvSpPr>
          <p:nvPr>
            <p:ph type="sldNum" idx="12"/>
          </p:nvPr>
        </p:nvSpPr>
        <p:spPr/>
        <p:txBody>
          <a:bodyPr/>
          <a:lstStyle/>
          <a:p>
            <a:fld id="{9D1DB54B-4FC6-4944-8106-E43DA6D7893B}" type="slidenum">
              <a:rPr/>
              <a:t>‹#›</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extBox 1"/>
          <p:cNvSpPr txBox="1"/>
          <p:nvPr/>
        </p:nvSpPr>
        <p:spPr>
          <a:xfrm>
            <a:off x="508000" y="279400"/>
            <a:ext cx="11176000" cy="457200"/>
          </a:xfrm>
          <a:prstGeom prst="rect">
            <a:avLst/>
          </a:prstGeom>
        </p:spPr>
        <p:txBody>
          <a:bodyPr wrap="square">
            <a:spAutoFit/>
          </a:bodyPr>
          <a:lstStyle/>
          <a:p>
            <a:r>
              <a:rPr sz="2400" b="1">
                <a:solidFill>
                  <a:srgbClr val="2A2622"/>
                </a:solidFill>
              </a:rPr>
              <a:t>Porta, Nou Barris: both hazards, and the planes to replace</a:t>
            </a:r>
            <a:endParaRPr sz="2400" b="1">
              <a:solidFill>
                <a:srgbClr val="2A2622"/>
              </a:solidFill>
            </a:endParaRPr>
          </a:p>
        </p:txBody>
      </p:sp>
      <p:sp>
        <p:nvSpPr>
          <p:cNvPr id="290" name="TextBox 2"/>
          <p:cNvSpPr txBox="1"/>
          <p:nvPr/>
        </p:nvSpPr>
        <p:spPr>
          <a:xfrm>
            <a:off x="508000" y="762000"/>
            <a:ext cx="11176000" cy="289560"/>
          </a:xfrm>
          <a:prstGeom prst="rect">
            <a:avLst/>
          </a:prstGeom>
        </p:spPr>
        <p:txBody>
          <a:bodyPr wrap="square">
            <a:spAutoFit/>
          </a:bodyPr>
          <a:lstStyle/>
          <a:p>
            <a:r>
              <a:rPr sz="1300" b="0">
                <a:solidFill>
                  <a:srgbClr val="665E4F"/>
                </a:solidFill>
              </a:rPr>
              <a:t>0.84 km² · chosen by a rule written before the data was ranked</a:t>
            </a:r>
            <a:endParaRPr sz="1300" b="0">
              <a:solidFill>
                <a:srgbClr val="665E4F"/>
              </a:solidFill>
            </a:endParaRPr>
          </a:p>
        </p:txBody>
      </p:sp>
      <p:pic>
        <p:nvPicPr>
          <p:cNvPr id="292" name="Picture 3" descr="04_why_porta.png"/>
          <p:cNvPicPr>
            <a:picLocks noChangeAspect="1"/>
          </p:cNvPicPr>
          <p:nvPr/>
        </p:nvPicPr>
        <p:blipFill rotWithShape="1">
          <a:blip r:embed="rId3"/>
          <a:stretch>
            <a:fillRect/>
          </a:stretch>
        </p:blipFill>
        <p:spPr>
          <a:xfrm>
            <a:off x="508000" y="1219200"/>
            <a:ext cx="11176000" cy="5372100"/>
          </a:xfrm>
          <a:prstGeom prst="rect">
            <a:avLst/>
          </a:prstGeom>
        </p:spPr>
      </p:pic>
      <p:sp>
        <p:nvSpPr>
          <p:cNvPr id="354" name="Slide Number Placeholder"/>
          <p:cNvSpPr>
            <a:spLocks noGrp="1"/>
          </p:cNvSpPr>
          <p:nvPr>
            <p:ph type="sldNum" idx="12"/>
          </p:nvPr>
        </p:nvSpPr>
        <p:spPr/>
        <p:txBody>
          <a:bodyPr/>
          <a:lstStyle/>
          <a:p>
            <a:fld id="{5D374AA8-8310-4FC9-8E61-808E79049FCE}" type="slidenum">
              <a:rPr/>
              <a:t>‹#›</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TextBox 1"/>
          <p:cNvSpPr txBox="1"/>
          <p:nvPr/>
        </p:nvSpPr>
        <p:spPr>
          <a:xfrm>
            <a:off x="508000" y="279400"/>
            <a:ext cx="11176000" cy="457200"/>
          </a:xfrm>
          <a:prstGeom prst="rect">
            <a:avLst/>
          </a:prstGeom>
        </p:spPr>
        <p:txBody>
          <a:bodyPr wrap="square">
            <a:spAutoFit/>
          </a:bodyPr>
          <a:lstStyle/>
          <a:p>
            <a:r>
              <a:rPr sz="2400" b="1">
                <a:solidFill>
                  <a:srgbClr val="2A2622"/>
                </a:solidFill>
              </a:rPr>
              <a:t>Same tree, two jobs: which traits help both, and where they conflict</a:t>
            </a:r>
            <a:endParaRPr sz="2400" b="1">
              <a:solidFill>
                <a:srgbClr val="2A2622"/>
              </a:solidFill>
            </a:endParaRPr>
          </a:p>
        </p:txBody>
      </p:sp>
      <p:sp>
        <p:nvSpPr>
          <p:cNvPr id="295" name="TextBox 2"/>
          <p:cNvSpPr txBox="1"/>
          <p:nvPr/>
        </p:nvSpPr>
        <p:spPr>
          <a:xfrm>
            <a:off x="508000" y="762000"/>
            <a:ext cx="11176000" cy="289560"/>
          </a:xfrm>
          <a:prstGeom prst="rect">
            <a:avLst/>
          </a:prstGeom>
        </p:spPr>
        <p:txBody>
          <a:bodyPr wrap="square">
            <a:spAutoFit/>
          </a:bodyPr>
          <a:lstStyle/>
          <a:p>
            <a:r>
              <a:rPr sz="1300" b="0">
                <a:solidFill>
                  <a:srgbClr val="665E4F"/>
                </a:solidFill>
              </a:rPr>
              <a:t>Heat and runoff evidence side by side (buckets B1, B7, B8)</a:t>
            </a:r>
            <a:endParaRPr sz="1300" b="0">
              <a:solidFill>
                <a:srgbClr val="665E4F"/>
              </a:solidFill>
            </a:endParaRPr>
          </a:p>
        </p:txBody>
      </p:sp>
      <p:pic>
        <p:nvPicPr>
          <p:cNvPr id="297" name="Picture 3" descr="08_heat_runoff_traits.png"/>
          <p:cNvPicPr>
            <a:picLocks noChangeAspect="1"/>
          </p:cNvPicPr>
          <p:nvPr/>
        </p:nvPicPr>
        <p:blipFill rotWithShape="1">
          <a:blip r:embed="rId3"/>
          <a:stretch>
            <a:fillRect/>
          </a:stretch>
        </p:blipFill>
        <p:spPr>
          <a:xfrm>
            <a:off x="508000" y="1219200"/>
            <a:ext cx="11176000" cy="5372100"/>
          </a:xfrm>
          <a:prstGeom prst="rect">
            <a:avLst/>
          </a:prstGeom>
        </p:spPr>
      </p:pic>
      <p:sp>
        <p:nvSpPr>
          <p:cNvPr id="357" name="Slide Number Placeholder"/>
          <p:cNvSpPr>
            <a:spLocks noGrp="1"/>
          </p:cNvSpPr>
          <p:nvPr>
            <p:ph type="sldNum" idx="12"/>
          </p:nvPr>
        </p:nvSpPr>
        <p:spPr/>
        <p:txBody>
          <a:bodyPr/>
          <a:lstStyle/>
          <a:p>
            <a:fld id="{9FD5AD5D-00E4-4746-836B-F0EA3C4886F1}" type="slidenum">
              <a:rPr/>
              <a:t>‹#›</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TextBox 1"/>
          <p:cNvSpPr txBox="1"/>
          <p:nvPr/>
        </p:nvSpPr>
        <p:spPr>
          <a:xfrm>
            <a:off x="508000" y="279400"/>
            <a:ext cx="11176000" cy="457200"/>
          </a:xfrm>
          <a:prstGeom prst="rect">
            <a:avLst/>
          </a:prstGeom>
        </p:spPr>
        <p:txBody>
          <a:bodyPr wrap="square">
            <a:spAutoFit/>
          </a:bodyPr>
          <a:lstStyle/>
          <a:p>
            <a:r>
              <a:rPr sz="2400" b="1">
                <a:solidFill>
                  <a:srgbClr val="2A2622"/>
                </a:solidFill>
              </a:rPr>
              <a:t>No method yet chooses species and positions for heat and runoff together</a:t>
            </a:r>
            <a:endParaRPr sz="2400" b="1">
              <a:solidFill>
                <a:srgbClr val="2A2622"/>
              </a:solidFill>
            </a:endParaRPr>
          </a:p>
        </p:txBody>
      </p:sp>
      <p:sp>
        <p:nvSpPr>
          <p:cNvPr id="300" name="TextBox 2"/>
          <p:cNvSpPr txBox="1"/>
          <p:nvPr/>
        </p:nvSpPr>
        <p:spPr>
          <a:xfrm>
            <a:off x="508000" y="762000"/>
            <a:ext cx="11176000" cy="289560"/>
          </a:xfrm>
          <a:prstGeom prst="rect">
            <a:avLst/>
          </a:prstGeom>
        </p:spPr>
        <p:txBody>
          <a:bodyPr wrap="square">
            <a:spAutoFit/>
          </a:bodyPr>
          <a:lstStyle/>
          <a:p>
            <a:r>
              <a:rPr sz="1300" b="0">
                <a:solidFill>
                  <a:srgbClr val="665E4F"/>
                </a:solidFill>
              </a:rPr>
              <a:t>Closest precedents from the review vs this thesis</a:t>
            </a:r>
            <a:endParaRPr sz="1300" b="0">
              <a:solidFill>
                <a:srgbClr val="665E4F"/>
              </a:solidFill>
            </a:endParaRPr>
          </a:p>
        </p:txBody>
      </p:sp>
      <p:pic>
        <p:nvPicPr>
          <p:cNvPr id="302" name="Picture 3" descr="09_gap_matrix.png"/>
          <p:cNvPicPr>
            <a:picLocks noChangeAspect="1"/>
          </p:cNvPicPr>
          <p:nvPr/>
        </p:nvPicPr>
        <p:blipFill rotWithShape="1">
          <a:blip r:embed="rId3"/>
          <a:stretch>
            <a:fillRect/>
          </a:stretch>
        </p:blipFill>
        <p:spPr>
          <a:xfrm>
            <a:off x="508000" y="1219200"/>
            <a:ext cx="11176000" cy="5372100"/>
          </a:xfrm>
          <a:prstGeom prst="rect">
            <a:avLst/>
          </a:prstGeom>
        </p:spPr>
      </p:pic>
      <p:sp>
        <p:nvSpPr>
          <p:cNvPr id="360" name="Slide Number Placeholder"/>
          <p:cNvSpPr>
            <a:spLocks noGrp="1"/>
          </p:cNvSpPr>
          <p:nvPr>
            <p:ph type="sldNum" idx="12"/>
          </p:nvPr>
        </p:nvSpPr>
        <p:spPr/>
        <p:txBody>
          <a:bodyPr/>
          <a:lstStyle/>
          <a:p>
            <a:fld id="{B79A8C84-1846-4993-8C55-9E7286E57C4C}" type="slidenum">
              <a:rPr/>
              <a:t>‹#›</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research question (v6)</a:t>
            </a:r>
            <a:endParaRPr sz="2400" b="1">
              <a:solidFill>
                <a:srgbClr val="2A2622"/>
              </a:solidFill>
            </a:endParaRPr>
          </a:p>
        </p:txBody>
      </p:sp>
      <p:sp>
        <p:nvSpPr>
          <p:cNvPr id="305" name="TextBox 2"/>
          <p:cNvSpPr txBox="1"/>
          <p:nvPr/>
        </p:nvSpPr>
        <p:spPr>
          <a:xfrm>
            <a:off x="508000" y="762000"/>
            <a:ext cx="11176000" cy="289560"/>
          </a:xfrm>
          <a:prstGeom prst="rect">
            <a:avLst/>
          </a:prstGeom>
        </p:spPr>
        <p:txBody>
          <a:bodyPr wrap="square">
            <a:spAutoFit/>
          </a:bodyPr>
          <a:lstStyle/>
          <a:p>
            <a:r>
              <a:rPr sz="1300" b="0">
                <a:solidFill>
                  <a:srgbClr val="665E4F"/>
                </a:solidFill>
              </a:rPr>
              <a:t>Rebuilt on the tree master plan, 21 Oct</a:t>
            </a:r>
            <a:endParaRPr sz="1300" b="0">
              <a:solidFill>
                <a:srgbClr val="665E4F"/>
              </a:solidFill>
            </a:endParaRPr>
          </a:p>
        </p:txBody>
      </p:sp>
      <p:pic>
        <p:nvPicPr>
          <p:cNvPr id="307" name="Picture 3" descr="v6_08_research_question.png"/>
          <p:cNvPicPr>
            <a:picLocks noChangeAspect="1"/>
          </p:cNvPicPr>
          <p:nvPr/>
        </p:nvPicPr>
        <p:blipFill rotWithShape="1">
          <a:blip r:embed="rId3"/>
          <a:stretch>
            <a:fillRect/>
          </a:stretch>
        </p:blipFill>
        <p:spPr>
          <a:xfrm>
            <a:off x="508000" y="1219200"/>
            <a:ext cx="11176000" cy="5372100"/>
          </a:xfrm>
          <a:prstGeom prst="rect">
            <a:avLst/>
          </a:prstGeom>
        </p:spPr>
      </p:pic>
      <p:sp>
        <p:nvSpPr>
          <p:cNvPr id="363" name="Slide Number Placeholder"/>
          <p:cNvSpPr>
            <a:spLocks noGrp="1"/>
          </p:cNvSpPr>
          <p:nvPr>
            <p:ph type="sldNum" idx="12"/>
          </p:nvPr>
        </p:nvSpPr>
        <p:spPr/>
        <p:txBody>
          <a:bodyPr/>
          <a:lstStyle/>
          <a:p>
            <a:fld id="{A4E5D909-40B4-4C80-8454-38C8AE8D0597}" type="slidenum">
              <a:rPr/>
              <a:t>‹#›</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1"/>
          <p:cNvSpPr txBox="1"/>
          <p:nvPr/>
        </p:nvSpPr>
        <p:spPr>
          <a:xfrm>
            <a:off x="508000" y="279400"/>
            <a:ext cx="11176000" cy="457200"/>
          </a:xfrm>
          <a:prstGeom prst="rect">
            <a:avLst/>
          </a:prstGeom>
        </p:spPr>
        <p:txBody>
          <a:bodyPr wrap="square">
            <a:spAutoFit/>
          </a:bodyPr>
          <a:lstStyle/>
          <a:p>
            <a:r>
              <a:rPr sz="2400" b="1">
                <a:solidFill>
                  <a:srgbClr val="2A2622"/>
                </a:solidFill>
              </a:rPr>
              <a:t>The sizing rule leaves the optimisation room</a:t>
            </a:r>
            <a:endParaRPr sz="2400" b="1">
              <a:solidFill>
                <a:srgbClr val="2A2622"/>
              </a:solidFill>
            </a:endParaRPr>
          </a:p>
        </p:txBody>
      </p:sp>
      <p:sp>
        <p:nvSpPr>
          <p:cNvPr id="310" name="TextBox 2"/>
          <p:cNvSpPr txBox="1"/>
          <p:nvPr/>
        </p:nvSpPr>
        <p:spPr>
          <a:xfrm>
            <a:off x="508000" y="762000"/>
            <a:ext cx="11176000" cy="289560"/>
          </a:xfrm>
          <a:prstGeom prst="rect">
            <a:avLst/>
          </a:prstGeom>
        </p:spPr>
        <p:txBody>
          <a:bodyPr wrap="square">
            <a:spAutoFit/>
          </a:bodyPr>
          <a:lstStyle/>
          <a:p>
            <a:r>
              <a:rPr sz="1300" b="0">
                <a:solidFill>
                  <a:srgbClr val="665E4F"/>
                </a:solidFill>
              </a:rPr>
              <a:t>Sidewalk width at each Porta plane, from the city's 1:1000 map; 2011 guide: &lt; 2.5 m none, &lt; 3.5 small, 3.5–6 medium, &gt; 6 m large</a:t>
            </a:r>
            <a:endParaRPr sz="1300" b="0">
              <a:solidFill>
                <a:srgbClr val="665E4F"/>
              </a:solidFill>
            </a:endParaRPr>
          </a:p>
        </p:txBody>
      </p:sp>
      <p:pic>
        <p:nvPicPr>
          <p:cNvPr id="312" name="Picture 3" descr="v6_09_sizing_rule.png"/>
          <p:cNvPicPr>
            <a:picLocks noChangeAspect="1"/>
          </p:cNvPicPr>
          <p:nvPr/>
        </p:nvPicPr>
        <p:blipFill rotWithShape="1">
          <a:blip r:embed="rId3"/>
          <a:stretch>
            <a:fillRect/>
          </a:stretch>
        </p:blipFill>
        <p:spPr>
          <a:xfrm>
            <a:off x="508000" y="1219200"/>
            <a:ext cx="11176000" cy="5372100"/>
          </a:xfrm>
          <a:prstGeom prst="rect">
            <a:avLst/>
          </a:prstGeom>
        </p:spPr>
      </p:pic>
      <p:sp>
        <p:nvSpPr>
          <p:cNvPr id="366" name="Slide Number Placeholder"/>
          <p:cNvSpPr>
            <a:spLocks noGrp="1"/>
          </p:cNvSpPr>
          <p:nvPr>
            <p:ph type="sldNum" idx="12"/>
          </p:nvPr>
        </p:nvSpPr>
        <p:spPr/>
        <p:txBody>
          <a:bodyPr/>
          <a:lstStyle/>
          <a:p>
            <a:fld id="{80EC94FA-F8E2-4AC5-8BAF-84C1CD9CCE2A}" type="slidenum">
              <a:rPr/>
              <a:t>‹#›</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TextBox 1"/>
          <p:cNvSpPr txBox="1"/>
          <p:nvPr/>
        </p:nvSpPr>
        <p:spPr>
          <a:xfrm>
            <a:off x="508000" y="279400"/>
            <a:ext cx="11176000" cy="457200"/>
          </a:xfrm>
          <a:prstGeom prst="rect">
            <a:avLst/>
          </a:prstGeom>
        </p:spPr>
        <p:txBody>
          <a:bodyPr wrap="square">
            <a:spAutoFit/>
          </a:bodyPr>
          <a:lstStyle/>
          <a:p>
            <a:r>
              <a:rPr sz="2400" b="1">
                <a:solidFill>
                  <a:srgbClr val="2A2622"/>
                </a:solidFill>
              </a:rPr>
              <a:t>Hypotheses and method</a:t>
            </a:r>
            <a:endParaRPr sz="2400" b="1">
              <a:solidFill>
                <a:srgbClr val="2A2622"/>
              </a:solidFill>
            </a:endParaRPr>
          </a:p>
        </p:txBody>
      </p:sp>
      <p:sp>
        <p:nvSpPr>
          <p:cNvPr id="315" name="TextBox 2"/>
          <p:cNvSpPr txBox="1"/>
          <p:nvPr/>
        </p:nvSpPr>
        <p:spPr>
          <a:xfrm>
            <a:off x="508000" y="762000"/>
            <a:ext cx="11176000" cy="289560"/>
          </a:xfrm>
          <a:prstGeom prst="rect">
            <a:avLst/>
          </a:prstGeom>
        </p:spPr>
        <p:txBody>
          <a:bodyPr wrap="square">
            <a:spAutoFit/>
          </a:bodyPr>
          <a:lstStyle/>
          <a:p>
            <a:r>
              <a:rPr sz="1300" b="0">
                <a:solidFill>
                  <a:srgbClr val="665E4F"/>
                </a:solidFill>
              </a:rPr>
              <a:t>Two testable hypotheses, one declared boundary; the pipeline is unchanged from 20 Oct</a:t>
            </a:r>
            <a:endParaRPr sz="1300" b="0">
              <a:solidFill>
                <a:srgbClr val="665E4F"/>
              </a:solidFill>
            </a:endParaRPr>
          </a:p>
        </p:txBody>
      </p:sp>
      <p:sp>
        <p:nvSpPr>
          <p:cNvPr id="316" name="TextBox 3"/>
          <p:cNvSpPr txBox="1"/>
          <p:nvPr/>
        </p:nvSpPr>
        <p:spPr>
          <a:xfrm>
            <a:off x="508000" y="1219200"/>
            <a:ext cx="5461000" cy="2377440"/>
          </a:xfrm>
          <a:prstGeom prst="rect">
            <a:avLst/>
          </a:prstGeom>
        </p:spPr>
        <p:txBody>
          <a:bodyPr wrap="square">
            <a:spAutoFit/>
          </a:bodyPr>
          <a:lstStyle/>
          <a:p>
            <a:pPr>
              <a:spcAft>
                <a:spcPts val="800"/>
              </a:spcAft>
            </a:pPr>
            <a:r>
              <a:rPr sz="1300" b="0">
                <a:solidFill>
                  <a:srgbClr val="2A2622"/>
                </a:solidFill>
              </a:rPr>
              <a:t>H1, synergy: at the same positions, with the size class each sidewalk takes, trait-based choices beat the city's own replacement (S1) on both heat and runoff. Runoff differences below Δmin = 91 m³ are reported as "not resolved".</a:t>
            </a:r>
            <a:endParaRPr sz="1300" b="0">
              <a:solidFill>
                <a:srgbClr val="2A2622"/>
              </a:solidFill>
            </a:endParaRPr>
          </a:p>
          <a:p>
            <a:pPr>
              <a:spcAft>
                <a:spcPts val="800"/>
              </a:spcAft>
            </a:pPr>
            <a:r>
              <a:rPr sz="1300" b="0">
                <a:solidFill>
                  <a:srgbClr val="2A2622"/>
                </a:solidFill>
              </a:rPr>
              <a:t>H2, trade-off: the heat optimum and the runoff optimum differ mainly in species, so the front is not a point.</a:t>
            </a:r>
            <a:endParaRPr sz="1300" b="0">
              <a:solidFill>
                <a:srgbClr val="2A2622"/>
              </a:solidFill>
            </a:endParaRPr>
          </a:p>
          <a:p>
            <a:pPr>
              <a:spcAft>
                <a:spcPts val="800"/>
              </a:spcAft>
            </a:pPr>
            <a:r>
              <a:rPr sz="1300" b="0">
                <a:solidFill>
                  <a:srgbClr val="2A2622"/>
                </a:solidFill>
              </a:rPr>
              <a:t>Declared boundary: the runoff benefit shrinks as storms grow. True by construction of the model, so not tested.</a:t>
            </a:r>
            <a:endParaRPr sz="1300" b="0">
              <a:solidFill>
                <a:srgbClr val="2A2622"/>
              </a:solidFill>
            </a:endParaRPr>
          </a:p>
          <a:p>
            <a:pPr>
              <a:spcAft>
                <a:spcPts val="800"/>
              </a:spcAft>
            </a:pPr>
            <a:r>
              <a:rPr sz="1300" b="0">
                <a:solidFill>
                  <a:srgbClr val="2A2622"/>
                </a:solidFill>
              </a:rPr>
              <a:t>Constraints: ≤ 15% per species · size class by sidewalk width · the city's catalogue · diversity floor.</a:t>
            </a:r>
            <a:endParaRPr sz="1300" b="0">
              <a:solidFill>
                <a:srgbClr val="2A2622"/>
              </a:solidFill>
            </a:endParaRPr>
          </a:p>
        </p:txBody>
      </p:sp>
      <p:pic>
        <p:nvPicPr>
          <p:cNvPr id="318" name="Picture 4" descr="13_method_pipeline.png"/>
          <p:cNvPicPr>
            <a:picLocks noChangeAspect="1"/>
          </p:cNvPicPr>
          <p:nvPr/>
        </p:nvPicPr>
        <p:blipFill rotWithShape="1">
          <a:blip r:embed="rId3"/>
          <a:stretch>
            <a:fillRect/>
          </a:stretch>
        </p:blipFill>
        <p:spPr>
          <a:xfrm>
            <a:off x="6223000" y="1270000"/>
            <a:ext cx="5588000" cy="2692400"/>
          </a:xfrm>
          <a:prstGeom prst="rect">
            <a:avLst/>
          </a:prstGeom>
        </p:spPr>
      </p:pic>
      <p:sp>
        <p:nvSpPr>
          <p:cNvPr id="369" name="Slide Number Placeholder"/>
          <p:cNvSpPr>
            <a:spLocks noGrp="1"/>
          </p:cNvSpPr>
          <p:nvPr>
            <p:ph type="sldNum" idx="12"/>
          </p:nvPr>
        </p:nvSpPr>
        <p:spPr/>
        <p:txBody>
          <a:bodyPr/>
          <a:lstStyle/>
          <a:p>
            <a:fld id="{A67E2D13-7704-45C7-8091-8B2F05FD78CE}" type="slidenum">
              <a:rPr/>
              <a:t>‹#›</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TextBox 1"/>
          <p:cNvSpPr txBox="1"/>
          <p:nvPr/>
        </p:nvSpPr>
        <p:spPr>
          <a:xfrm>
            <a:off x="508000" y="279400"/>
            <a:ext cx="11176000" cy="457200"/>
          </a:xfrm>
          <a:prstGeom prst="rect">
            <a:avLst/>
          </a:prstGeom>
        </p:spPr>
        <p:txBody>
          <a:bodyPr wrap="square">
            <a:spAutoFit/>
          </a:bodyPr>
          <a:lstStyle/>
          <a:p>
            <a:r>
              <a:rPr sz="2400" b="1">
                <a:solidFill>
                  <a:srgbClr val="2A2622"/>
                </a:solidFill>
              </a:rPr>
              <a:t>Where the tool stands</a:t>
            </a:r>
            <a:endParaRPr sz="2400" b="1">
              <a:solidFill>
                <a:srgbClr val="2A2622"/>
              </a:solidFill>
            </a:endParaRPr>
          </a:p>
        </p:txBody>
      </p:sp>
      <p:sp>
        <p:nvSpPr>
          <p:cNvPr id="321" name="TextBox 2"/>
          <p:cNvSpPr txBox="1"/>
          <p:nvPr/>
        </p:nvSpPr>
        <p:spPr>
          <a:xfrm>
            <a:off x="508000" y="762000"/>
            <a:ext cx="11176000" cy="289560"/>
          </a:xfrm>
          <a:prstGeom prst="rect">
            <a:avLst/>
          </a:prstGeom>
        </p:spPr>
        <p:txBody>
          <a:bodyPr wrap="square">
            <a:spAutoFit/>
          </a:bodyPr>
          <a:lstStyle/>
          <a:p>
            <a:r>
              <a:rPr sz="1300" b="0">
                <a:solidFill>
                  <a:srgbClr val="663825"/>
                </a:solidFill>
              </a:rPr>
              <a:t>20 Oct run, before v6: random-palette baseline, no sizing rule. Re-run against S1 before quoting.</a:t>
            </a:r>
            <a:endParaRPr sz="1300" b="0">
              <a:solidFill>
                <a:srgbClr val="663825"/>
              </a:solidFill>
            </a:endParaRPr>
          </a:p>
        </p:txBody>
      </p:sp>
      <p:pic>
        <p:nvPicPr>
          <p:cNvPr id="323" name="Picture 3" descr="15_shade_result.png"/>
          <p:cNvPicPr>
            <a:picLocks noChangeAspect="1"/>
          </p:cNvPicPr>
          <p:nvPr/>
        </p:nvPicPr>
        <p:blipFill rotWithShape="1">
          <a:blip r:embed="rId3"/>
          <a:stretch>
            <a:fillRect/>
          </a:stretch>
        </p:blipFill>
        <p:spPr>
          <a:xfrm>
            <a:off x="508000" y="1219200"/>
            <a:ext cx="11176000" cy="5372100"/>
          </a:xfrm>
          <a:prstGeom prst="rect">
            <a:avLst/>
          </a:prstGeom>
        </p:spPr>
      </p:pic>
      <p:sp>
        <p:nvSpPr>
          <p:cNvPr id="372" name="Slide Number Placeholder"/>
          <p:cNvSpPr>
            <a:spLocks noGrp="1"/>
          </p:cNvSpPr>
          <p:nvPr>
            <p:ph type="sldNum" idx="12"/>
          </p:nvPr>
        </p:nvSpPr>
        <p:spPr/>
        <p:txBody>
          <a:bodyPr/>
          <a:lstStyle/>
          <a:p>
            <a:fld id="{95D27AB5-652A-495A-8336-EEDE33D0623B}" type="slidenum">
              <a:rPr/>
              <a:t>‹#›</a:t>
            </a:fl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TextBox 1"/>
          <p:cNvSpPr txBox="1"/>
          <p:nvPr/>
        </p:nvSpPr>
        <p:spPr>
          <a:xfrm>
            <a:off x="508000" y="279400"/>
            <a:ext cx="11176000" cy="457200"/>
          </a:xfrm>
          <a:prstGeom prst="rect">
            <a:avLst/>
          </a:prstGeom>
        </p:spPr>
        <p:txBody>
          <a:bodyPr wrap="square">
            <a:spAutoFit/>
          </a:bodyPr>
          <a:lstStyle/>
          <a:p>
            <a:r>
              <a:rPr sz="2400" b="1">
                <a:solidFill>
                  <a:srgbClr val="2A2622"/>
                </a:solidFill>
              </a:rPr>
              <a:t>Open questions, and what I asked the city</a:t>
            </a:r>
            <a:endParaRPr sz="2400" b="1">
              <a:solidFill>
                <a:srgbClr val="2A2622"/>
              </a:solidFill>
            </a:endParaRPr>
          </a:p>
        </p:txBody>
      </p:sp>
      <p:sp>
        <p:nvSpPr>
          <p:cNvPr id="326" name="TextBox 2"/>
          <p:cNvSpPr txBox="1"/>
          <p:nvPr/>
        </p:nvSpPr>
        <p:spPr>
          <a:xfrm>
            <a:off x="508000" y="762000"/>
            <a:ext cx="11176000" cy="289560"/>
          </a:xfrm>
          <a:prstGeom prst="rect">
            <a:avLst/>
          </a:prstGeom>
        </p:spPr>
        <p:txBody>
          <a:bodyPr wrap="square">
            <a:spAutoFit/>
          </a:bodyPr>
          <a:lstStyle/>
          <a:p>
            <a:r>
              <a:rPr sz="1300" b="0">
                <a:solidFill>
                  <a:srgbClr val="665E4F"/>
                </a:solidFill>
              </a:rPr>
              <a:t>Email to Parcs i Jardins, 21 Oct</a:t>
            </a:r>
            <a:endParaRPr sz="1300" b="0">
              <a:solidFill>
                <a:srgbClr val="665E4F"/>
              </a:solidFill>
            </a:endParaRPr>
          </a:p>
        </p:txBody>
      </p:sp>
      <p:sp>
        <p:nvSpPr>
          <p:cNvPr id="327" name="TextBox 3"/>
          <p:cNvSpPr txBox="1"/>
          <p:nvPr/>
        </p:nvSpPr>
        <p:spPr>
          <a:xfrm>
            <a:off x="508000" y="1219200"/>
            <a:ext cx="6604000" cy="1798320"/>
          </a:xfrm>
          <a:prstGeom prst="rect">
            <a:avLst/>
          </a:prstGeom>
        </p:spPr>
        <p:txBody>
          <a:bodyPr wrap="square">
            <a:spAutoFit/>
          </a:bodyPr>
          <a:lstStyle/>
          <a:p>
            <a:r>
              <a:rPr sz="1400" b="0">
                <a:solidFill>
                  <a:srgbClr val="2A2622"/>
                </a:solidFill>
              </a:rPr>
              <a:t>Five questions to the city:</a:t>
            </a:r>
            <a:endParaRPr sz="1400" b="0">
              <a:solidFill>
                <a:srgbClr val="2A2622"/>
              </a:solidFill>
            </a:endParaRPr>
          </a:p>
          <a:p>
            <a:r>
              <a:rPr sz="1400" b="0">
                <a:solidFill>
                  <a:srgbClr val="2A2622"/>
                </a:solidFill>
              </a:rPr>
              <a:t>–  Is there an internal replacement list?</a:t>
            </a:r>
            <a:endParaRPr sz="1400" b="0">
              <a:solidFill>
                <a:srgbClr val="2A2622"/>
              </a:solidFill>
            </a:endParaRPr>
          </a:p>
          <a:p>
            <a:r>
              <a:rPr sz="1400" b="0">
                <a:solidFill>
                  <a:srgbClr val="2A2622"/>
                </a:solidFill>
              </a:rPr>
              <a:t>–  Which streets keep their planes (is Av. Meridiana one of them)?</a:t>
            </a:r>
            <a:endParaRPr sz="1400" b="0">
              <a:solidFill>
                <a:srgbClr val="2A2622"/>
              </a:solidFill>
            </a:endParaRPr>
          </a:p>
          <a:p>
            <a:r>
              <a:rPr sz="1400" b="0">
                <a:solidFill>
                  <a:srgbClr val="2A2622"/>
                </a:solidFill>
              </a:rPr>
              <a:t>–  Is the 15% applied per neighbourhood?</a:t>
            </a:r>
            <a:endParaRPr sz="1400" b="0">
              <a:solidFill>
                <a:srgbClr val="2A2622"/>
              </a:solidFill>
            </a:endParaRPr>
          </a:p>
          <a:p>
            <a:r>
              <a:rPr sz="1400" b="0">
                <a:solidFill>
                  <a:srgbClr val="2A2622"/>
                </a:solidFill>
              </a:rPr>
              <a:t>–  Is there an official source for the 2026 target mix?</a:t>
            </a:r>
            <a:endParaRPr sz="1400" b="0">
              <a:solidFill>
                <a:srgbClr val="2A2622"/>
              </a:solidFill>
            </a:endParaRPr>
          </a:p>
          <a:p>
            <a:r>
              <a:rPr sz="1400" b="0">
                <a:solidFill>
                  <a:srgbClr val="2A2622"/>
                </a:solidFill>
              </a:rPr>
              <a:t>–  Is there an official sidewalk width, and how are trees on medians sized?</a:t>
            </a:r>
            <a:endParaRPr sz="1400" b="0">
              <a:solidFill>
                <a:srgbClr val="2A2622"/>
              </a:solidFill>
            </a:endParaRPr>
          </a:p>
          <a:p>
            <a:r>
              <a:rPr sz="1400" b="0">
                <a:solidFill>
                  <a:srgbClr val="2A2622"/>
                </a:solidFill>
              </a:rPr>
              <a:t>If the city has a list, it becomes S1, and the contribution narrows to the quantities.</a:t>
            </a:r>
            <a:endParaRPr sz="1400" b="0">
              <a:solidFill>
                <a:srgbClr val="2A2622"/>
              </a:solidFill>
            </a:endParaRPr>
          </a:p>
        </p:txBody>
      </p:sp>
      <p:sp>
        <p:nvSpPr>
          <p:cNvPr id="328" name="TextBox 4"/>
          <p:cNvSpPr txBox="1"/>
          <p:nvPr/>
        </p:nvSpPr>
        <p:spPr>
          <a:xfrm>
            <a:off x="7620000" y="1219200"/>
            <a:ext cx="4064000" cy="944880"/>
          </a:xfrm>
          <a:prstGeom prst="rect">
            <a:avLst/>
          </a:prstGeom>
        </p:spPr>
        <p:txBody>
          <a:bodyPr wrap="square">
            <a:spAutoFit/>
          </a:bodyPr>
          <a:lstStyle/>
          <a:p>
            <a:r>
              <a:rPr sz="1400" b="0">
                <a:solidFill>
                  <a:srgbClr val="663825"/>
                </a:solidFill>
              </a:rPr>
              <a:t>Assumptions to defend</a:t>
            </a:r>
            <a:endParaRPr sz="1400" b="0">
              <a:solidFill>
                <a:srgbClr val="663825"/>
              </a:solidFill>
            </a:endParaRPr>
          </a:p>
          <a:p>
            <a:r>
              <a:rPr sz="1400" b="0">
                <a:solidFill>
                  <a:srgbClr val="663825"/>
                </a:solidFill>
              </a:rPr>
              <a:t>–  the Porta-local 15% cap</a:t>
            </a:r>
            <a:endParaRPr sz="1400" b="0">
              <a:solidFill>
                <a:srgbClr val="663825"/>
              </a:solidFill>
            </a:endParaRPr>
          </a:p>
          <a:p>
            <a:r>
              <a:rPr sz="1400" b="0">
                <a:solidFill>
                  <a:srgbClr val="663825"/>
                </a:solidFill>
              </a:rPr>
              <a:t>–  no size filter on medians</a:t>
            </a:r>
            <a:endParaRPr sz="1400" b="0">
              <a:solidFill>
                <a:srgbClr val="663825"/>
              </a:solidFill>
            </a:endParaRPr>
          </a:p>
          <a:p>
            <a:r>
              <a:rPr sz="1400" b="0">
                <a:solidFill>
                  <a:srgbClr val="663825"/>
                </a:solidFill>
              </a:rPr>
              <a:t>–  Av. Meridiana included by default</a:t>
            </a:r>
            <a:endParaRPr sz="1400" b="0">
              <a:solidFill>
                <a:srgbClr val="663825"/>
              </a:solidFill>
            </a:endParaRPr>
          </a:p>
        </p:txBody>
      </p:sp>
      <p:sp>
        <p:nvSpPr>
          <p:cNvPr id="329" name="TextBox 5"/>
          <p:cNvSpPr txBox="1"/>
          <p:nvPr/>
        </p:nvSpPr>
        <p:spPr>
          <a:xfrm>
            <a:off x="508000" y="5334000"/>
            <a:ext cx="11176000" cy="365760"/>
          </a:xfrm>
          <a:prstGeom prst="rect">
            <a:avLst/>
          </a:prstGeom>
        </p:spPr>
        <p:txBody>
          <a:bodyPr wrap="square">
            <a:spAutoFit/>
          </a:bodyPr>
          <a:lstStyle/>
          <a:p>
            <a:r>
              <a:rPr sz="1800" b="1">
                <a:solidFill>
                  <a:srgbClr val="3F663E"/>
                </a:solidFill>
              </a:rPr>
              <a:t>My question to you: is the city's own replacement the right baseline for the main result?</a:t>
            </a:r>
            <a:endParaRPr sz="1800" b="1">
              <a:solidFill>
                <a:srgbClr val="3F663E"/>
              </a:solidFill>
            </a:endParaRPr>
          </a:p>
        </p:txBody>
      </p:sp>
      <p:sp>
        <p:nvSpPr>
          <p:cNvPr id="375" name="Slide Number Placeholder"/>
          <p:cNvSpPr>
            <a:spLocks noGrp="1"/>
          </p:cNvSpPr>
          <p:nvPr>
            <p:ph type="sldNum" idx="12"/>
          </p:nvPr>
        </p:nvSpPr>
        <p:spPr/>
        <p:txBody>
          <a:bodyPr/>
          <a:lstStyle/>
          <a:p>
            <a:fld id="{92FA209A-C3A7-4F8D-8E85-A91313DE554C}" type="slidenum">
              <a:rPr/>
              <a:t>‹#›</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TextBox 1"/>
          <p:cNvSpPr txBox="1"/>
          <p:nvPr/>
        </p:nvSpPr>
        <p:spPr>
          <a:xfrm>
            <a:off x="508000" y="279400"/>
            <a:ext cx="11176000" cy="457200"/>
          </a:xfrm>
          <a:prstGeom prst="rect">
            <a:avLst/>
          </a:prstGeom>
        </p:spPr>
        <p:txBody>
          <a:bodyPr wrap="square">
            <a:spAutoFit/>
          </a:bodyPr>
          <a:lstStyle/>
          <a:p>
            <a:r>
              <a:rPr sz="2400" b="1">
                <a:solidFill>
                  <a:srgbClr val="2A2622"/>
                </a:solidFill>
              </a:rPr>
              <a:t>Backup: how the sidewalk was measured</a:t>
            </a:r>
            <a:endParaRPr sz="2400" b="1">
              <a:solidFill>
                <a:srgbClr val="2A2622"/>
              </a:solidFill>
            </a:endParaRPr>
          </a:p>
        </p:txBody>
      </p:sp>
      <p:sp>
        <p:nvSpPr>
          <p:cNvPr id="332" name="TextBox 2"/>
          <p:cNvSpPr txBox="1"/>
          <p:nvPr/>
        </p:nvSpPr>
        <p:spPr>
          <a:xfrm>
            <a:off x="508000" y="762000"/>
            <a:ext cx="11176000" cy="289560"/>
          </a:xfrm>
          <a:prstGeom prst="rect">
            <a:avLst/>
          </a:prstGeom>
        </p:spPr>
        <p:txBody>
          <a:bodyPr wrap="square">
            <a:spAutoFit/>
          </a:bodyPr>
          <a:lstStyle/>
          <a:p>
            <a:r>
              <a:rPr sz="1300" b="0">
                <a:solidFill>
                  <a:srgbClr val="665E4F"/>
                </a:solidFill>
              </a:rPr>
              <a:t>20 random Porta planes checked by eye on the 1:1000 map</a:t>
            </a:r>
            <a:endParaRPr sz="1300" b="0">
              <a:solidFill>
                <a:srgbClr val="665E4F"/>
              </a:solidFill>
            </a:endParaRPr>
          </a:p>
        </p:txBody>
      </p:sp>
      <p:pic>
        <p:nvPicPr>
          <p:cNvPr id="334" name="Picture 3" descr="sidewalk_width_qa_20.png"/>
          <p:cNvPicPr>
            <a:picLocks noChangeAspect="1"/>
          </p:cNvPicPr>
          <p:nvPr/>
        </p:nvPicPr>
        <p:blipFill rotWithShape="1">
          <a:blip r:embed="rId2"/>
          <a:stretch>
            <a:fillRect/>
          </a:stretch>
        </p:blipFill>
        <p:spPr>
          <a:xfrm>
            <a:off x="508000" y="1219200"/>
            <a:ext cx="6832600" cy="5461000"/>
          </a:xfrm>
          <a:prstGeom prst="rect">
            <a:avLst/>
          </a:prstGeom>
        </p:spPr>
      </p:pic>
      <p:sp>
        <p:nvSpPr>
          <p:cNvPr id="335" name="TextBox 4"/>
          <p:cNvSpPr txBox="1"/>
          <p:nvPr/>
        </p:nvSpPr>
        <p:spPr>
          <a:xfrm>
            <a:off x="7874000" y="1270000"/>
            <a:ext cx="3810000" cy="2179320"/>
          </a:xfrm>
          <a:prstGeom prst="rect">
            <a:avLst/>
          </a:prstGeom>
        </p:spPr>
        <p:txBody>
          <a:bodyPr wrap="square">
            <a:spAutoFit/>
          </a:bodyPr>
          <a:lstStyle/>
          <a:p>
            <a:pPr>
              <a:spcAft>
                <a:spcPts val="800"/>
              </a:spcAft>
            </a:pPr>
            <a:r>
              <a:rPr sz="1300" b="0">
                <a:solidFill>
                  <a:srgbClr val="2A2622"/>
                </a:solidFill>
              </a:rPr>
              <a:t>A ray runs from the nearest façade, through the tree, to the first kerb line.</a:t>
            </a:r>
            <a:endParaRPr sz="1300" b="0">
              <a:solidFill>
                <a:srgbClr val="2A2622"/>
              </a:solidFill>
            </a:endParaRPr>
          </a:p>
          <a:p>
            <a:pPr>
              <a:spcAft>
                <a:spcPts val="800"/>
              </a:spcAft>
            </a:pPr>
            <a:r>
              <a:rPr sz="1300" b="0">
                <a:solidFill>
                  <a:srgbClr val="2A2622"/>
                </a:solidFill>
              </a:rPr>
              <a:t>18 of 20 are correct; the other 2 are corner trees measured diagonally, and both stay "large".</a:t>
            </a:r>
            <a:endParaRPr sz="1300" b="0">
              <a:solidFill>
                <a:srgbClr val="2A2622"/>
              </a:solidFill>
            </a:endParaRPr>
          </a:p>
          <a:p>
            <a:pPr>
              <a:spcAft>
                <a:spcPts val="800"/>
              </a:spcAft>
            </a:pPr>
            <a:r>
              <a:rPr sz="1300" b="0">
                <a:solidFill>
                  <a:srgbClr val="2A2622"/>
                </a:solidFill>
              </a:rPr>
              <a:t>LiDAR at 0.5 m cannot check ±0.3 m: roofs overhang façades by a median 0.6 m, and kerbs are smoothed out of the ground model.</a:t>
            </a:r>
            <a:endParaRPr sz="1300" b="0">
              <a:solidFill>
                <a:srgbClr val="2A2622"/>
              </a:solidFill>
            </a:endParaRPr>
          </a:p>
          <a:p>
            <a:pPr>
              <a:spcAft>
                <a:spcPts val="800"/>
              </a:spcAft>
            </a:pPr>
            <a:r>
              <a:rPr sz="1300" b="0">
                <a:solidFill>
                  <a:srgbClr val="2A2622"/>
                </a:solidFill>
              </a:rPr>
              <a:t>32 of the 400 measured planes lie within 0.3 m of a class threshold.</a:t>
            </a:r>
            <a:endParaRPr sz="1300" b="0">
              <a:solidFill>
                <a:srgbClr val="2A2622"/>
              </a:solidFill>
            </a:endParaRPr>
          </a:p>
        </p:txBody>
      </p:sp>
      <p:sp>
        <p:nvSpPr>
          <p:cNvPr id="378" name="Slide Number Placeholder"/>
          <p:cNvSpPr>
            <a:spLocks noGrp="1"/>
          </p:cNvSpPr>
          <p:nvPr>
            <p:ph type="sldNum" idx="12"/>
          </p:nvPr>
        </p:nvSpPr>
        <p:spPr/>
        <p:txBody>
          <a:bodyPr/>
          <a:lstStyle/>
          <a:p>
            <a:fld id="{18C67565-E9B8-43A8-859B-FB8AC9415FF1}" type="slidenum">
              <a:rPr/>
              <a:t>‹#›</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TextBox 1"/>
          <p:cNvSpPr txBox="1"/>
          <p:nvPr/>
        </p:nvSpPr>
        <p:spPr>
          <a:xfrm>
            <a:off x="508000" y="279400"/>
            <a:ext cx="11176000" cy="457200"/>
          </a:xfrm>
          <a:prstGeom prst="rect">
            <a:avLst/>
          </a:prstGeom>
        </p:spPr>
        <p:txBody>
          <a:bodyPr wrap="square">
            <a:spAutoFit/>
          </a:bodyPr>
          <a:lstStyle/>
          <a:p>
            <a:r>
              <a:rPr sz="2400" b="1">
                <a:solidFill>
                  <a:srgbClr val="2A2622"/>
                </a:solidFill>
              </a:rPr>
              <a:t>Backup: the crown comparison, raw vs equal trunk size</a:t>
            </a:r>
            <a:endParaRPr sz="2400" b="1">
              <a:solidFill>
                <a:srgbClr val="2A2622"/>
              </a:solidFill>
            </a:endParaRPr>
          </a:p>
        </p:txBody>
      </p:sp>
      <p:sp>
        <p:nvSpPr>
          <p:cNvPr id="338" name="TextBox 2"/>
          <p:cNvSpPr txBox="1"/>
          <p:nvPr/>
        </p:nvSpPr>
        <p:spPr>
          <a:xfrm>
            <a:off x="508000" y="762000"/>
            <a:ext cx="11176000" cy="289560"/>
          </a:xfrm>
          <a:prstGeom prst="rect">
            <a:avLst/>
          </a:prstGeom>
        </p:spPr>
        <p:txBody>
          <a:bodyPr wrap="square">
            <a:spAutoFit/>
          </a:bodyPr>
          <a:lstStyle/>
          <a:p>
            <a:r>
              <a:rPr sz="1300" b="0">
                <a:solidFill>
                  <a:srgbClr val="665E4F"/>
                </a:solidFill>
              </a:rPr>
              <a:t>Why slide 4 compares crowns inside the same trunk class</a:t>
            </a:r>
            <a:endParaRPr sz="1300" b="0">
              <a:solidFill>
                <a:srgbClr val="665E4F"/>
              </a:solidFill>
            </a:endParaRPr>
          </a:p>
        </p:txBody>
      </p:sp>
      <p:sp>
        <p:nvSpPr>
          <p:cNvPr id="339" name="TextBox 3"/>
          <p:cNvSpPr txBox="1"/>
          <p:nvPr/>
        </p:nvSpPr>
        <p:spPr>
          <a:xfrm>
            <a:off x="508000" y="1397000"/>
            <a:ext cx="11176000" cy="1320800"/>
          </a:xfrm>
          <a:prstGeom prst="rect">
            <a:avLst/>
          </a:prstGeom>
        </p:spPr>
        <p:txBody>
          <a:bodyPr wrap="square">
            <a:spAutoFit/>
          </a:bodyPr>
          <a:lstStyle/>
          <a:p>
            <a:pPr>
              <a:spcAft>
                <a:spcPts val="1000"/>
              </a:spcAft>
            </a:pPr>
            <a:r>
              <a:rPr sz="1600" b="0">
                <a:solidFill>
                  <a:srgbClr val="2A2622"/>
                </a:solidFill>
              </a:rPr>
              <a:t>Raw medians mislead: Melia looks as big as a plane because 30% of the Melias in the table are in the largest trunk class, against 16% of the planes.</a:t>
            </a:r>
            <a:endParaRPr sz="1600" b="0">
              <a:solidFill>
                <a:srgbClr val="2A2622"/>
              </a:solidFill>
            </a:endParaRPr>
          </a:p>
          <a:p>
            <a:pPr>
              <a:spcAft>
                <a:spcPts val="1000"/>
              </a:spcAft>
            </a:pPr>
            <a:r>
              <a:rPr sz="1600" b="0">
                <a:solidFill>
                  <a:srgbClr val="2A2622"/>
                </a:solidFill>
              </a:rPr>
              <a:t>They also overstate the Pyrus loss: 63% of the Pyrus trees are in the smallest class.</a:t>
            </a:r>
            <a:endParaRPr sz="1600" b="0">
              <a:solidFill>
                <a:srgbClr val="2A2622"/>
              </a:solidFill>
            </a:endParaRPr>
          </a:p>
          <a:p>
            <a:pPr>
              <a:spcAft>
                <a:spcPts val="1000"/>
              </a:spcAft>
            </a:pPr>
            <a:r>
              <a:rPr sz="1600" b="0">
                <a:solidFill>
                  <a:srgbClr val="2A2622"/>
                </a:solidFill>
              </a:rPr>
              <a:t>Source: notes/topic_decision.md §9.9.</a:t>
            </a:r>
            <a:endParaRPr sz="1600" b="0">
              <a:solidFill>
                <a:srgbClr val="2A2622"/>
              </a:solidFill>
            </a:endParaRPr>
          </a:p>
        </p:txBody>
      </p:sp>
      <p:sp>
        <p:nvSpPr>
          <p:cNvPr id="381" name="Slide Number Placeholder"/>
          <p:cNvSpPr>
            <a:spLocks noGrp="1"/>
          </p:cNvSpPr>
          <p:nvPr>
            <p:ph type="sldNum" idx="12"/>
          </p:nvPr>
        </p:nvSpPr>
        <p:spPr/>
        <p:txBody>
          <a:bodyPr/>
          <a:lstStyle/>
          <a:p>
            <a:fld id="{4D469FB7-52EC-4B93-8A4D-4826A82733E2}" type="slidenum">
              <a:rPr/>
              <a:t>‹#›</a:t>
            </a:fld>
          </a:p>
        </p:txBody>
      </p:sp>
    </p:spTree>
  </p:cSld>
  <p:clrMapOvr>
    <a:masterClrMapping/>
  </p:clrMapOvr>
</p:sld>
</file>

<file path=ppt/theme/theme1.xml><?xml version="1.0" encoding="utf-8"?>
<a:theme xmlns:a="http://schemas.openxmlformats.org/drawingml/2006/main" xmlns:r="http://schemas.openxmlformats.org/officeDocument/2006/relationships" name="Paper">
  <a:themeElements>
    <a:clrScheme name="Custom">
      <a:dk1>
        <a:srgbClr val="2A2622"/>
      </a:dk1>
      <a:lt1>
        <a:srgbClr val="F2F0EA"/>
      </a:lt1>
      <a:dk2>
        <a:srgbClr val="283F2A"/>
      </a:dk2>
      <a:lt2>
        <a:srgbClr val="E4E0D6"/>
      </a:lt2>
      <a:accent1>
        <a:srgbClr val="3F663E"/>
      </a:accent1>
      <a:accent2>
        <a:srgbClr val="283F66"/>
      </a:accent2>
      <a:accent3>
        <a:srgbClr val="663825"/>
      </a:accent3>
      <a:accent4>
        <a:srgbClr val="BA9546"/>
      </a:accent4>
      <a:accent5>
        <a:srgbClr val="665E4F"/>
      </a:accent5>
      <a:accent6>
        <a:srgbClr val="B3BAB9"/>
      </a:accent6>
      <a:hlink>
        <a:srgbClr val="283F66"/>
      </a:hlink>
      <a:folHlink>
        <a:srgbClr val="665E4F"/>
      </a:folHlink>
    </a:clrScheme>
    <a:fontScheme name="Custom">
      <a:majorFont>
        <a:latin typeface="IBM Plex Sans"/>
        <a:ea typeface=""/>
        <a:cs typeface=""/>
      </a:majorFont>
      <a:minorFont>
        <a:latin typeface="IBM Plex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Paper">
  <a:themeElements>
    <a:clrScheme name="Custom">
      <a:dk1>
        <a:srgbClr val="2A2622"/>
      </a:dk1>
      <a:lt1>
        <a:srgbClr val="F2F0EA"/>
      </a:lt1>
      <a:dk2>
        <a:srgbClr val="283F2A"/>
      </a:dk2>
      <a:lt2>
        <a:srgbClr val="E4E0D6"/>
      </a:lt2>
      <a:accent1>
        <a:srgbClr val="3F663E"/>
      </a:accent1>
      <a:accent2>
        <a:srgbClr val="283F66"/>
      </a:accent2>
      <a:accent3>
        <a:srgbClr val="663825"/>
      </a:accent3>
      <a:accent4>
        <a:srgbClr val="BA9546"/>
      </a:accent4>
      <a:accent5>
        <a:srgbClr val="665E4F"/>
      </a:accent5>
      <a:accent6>
        <a:srgbClr val="B3BAB9"/>
      </a:accent6>
      <a:hlink>
        <a:srgbClr val="283F66"/>
      </a:hlink>
      <a:folHlink>
        <a:srgbClr val="665E4F"/>
      </a:folHlink>
    </a:clrScheme>
    <a:fontScheme name="Custom">
      <a:majorFont>
        <a:latin typeface="IBM Plex Sans"/>
        <a:ea typeface=""/>
        <a:cs typeface=""/>
      </a:majorFont>
      <a:minorFont>
        <a:latin typeface="IBM Plex Sans"/>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14</Slides>
  <Notes>12</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