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Box 1"/>
          <p:cNvSpPr txBox="1"/>
          <p:nvPr/>
        </p:nvSpPr>
        <p:spPr>
          <a:xfrm>
            <a:off x="254000" y="127000"/>
            <a:ext cx="8890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</a:rPr>
              <a:t>Theory of Change · Shade and Sponge: trait-based street-tree placement for heat and runoff</a:t>
            </a:r>
            <a:endParaRPr sz="1200" b="1"/>
          </a:p>
        </p:txBody>
      </p:sp>
      <p:sp>
        <p:nvSpPr>
          <p:cNvPr id="260" name="TextBox 2"/>
          <p:cNvSpPr txBox="1"/>
          <p:nvPr/>
        </p:nvSpPr>
        <p:spPr>
          <a:xfrm>
            <a:off x="9398000" y="177800"/>
            <a:ext cx="254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RT · Assignment 2 · MaCAD thesis · 4 Nov 2026</a:t>
            </a:r>
            <a:endParaRPr sz="800">
              <a:solidFill>
                <a:srgbClr val="6B7280"/>
              </a:solidFill>
            </a:endParaRPr>
          </a:p>
        </p:txBody>
      </p:sp>
      <p:sp>
        <p:nvSpPr>
          <p:cNvPr id="261" name="Rectangle 3"/>
          <p:cNvSpPr/>
          <p:nvPr/>
        </p:nvSpPr>
        <p:spPr>
          <a:xfrm>
            <a:off x="254000" y="609600"/>
            <a:ext cx="2336800" cy="317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431800" rIns="76200" bIns="76200" anchor="t"/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Barcelona street-tree planning decides which species goes where from measured heat (UTCI) and runoff benefit, not only how much of each species.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Today the tree master plan sets species quotas city-wide and quantifies neither heat nor runoff.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Porta (Nou Barris): canopy cover 20.1% vs the city's 30% target; plane trees ≈29% of that canopy.</a:t>
            </a:r>
            <a:endParaRPr sz="850">
              <a:solidFill>
                <a:srgbClr val="1F2937"/>
              </a:solidFill>
            </a:endParaRPr>
          </a:p>
        </p:txBody>
      </p:sp>
      <p:sp>
        <p:nvSpPr>
          <p:cNvPr id="262" name="TextBox 4"/>
          <p:cNvSpPr txBox="1"/>
          <p:nvPr/>
        </p:nvSpPr>
        <p:spPr>
          <a:xfrm>
            <a:off x="304800" y="660400"/>
            <a:ext cx="2235200" cy="35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11827"/>
                </a:solidFill>
              </a:rPr>
              <a:t>WHAT IS THE CHANGE I WANT TO CREATE?</a:t>
            </a:r>
            <a:endParaRPr sz="850" b="1">
              <a:solidFill>
                <a:srgbClr val="111827"/>
              </a:solidFill>
            </a:endParaRPr>
          </a:p>
        </p:txBody>
      </p:sp>
      <p:sp>
        <p:nvSpPr>
          <p:cNvPr id="263" name="Rectangle 5"/>
          <p:cNvSpPr/>
          <p:nvPr/>
        </p:nvSpPr>
        <p:spPr>
          <a:xfrm>
            <a:off x="2590800" y="609600"/>
            <a:ext cx="2336800" cy="317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04800" rIns="76200" bIns="76200" anchor="t"/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shade_sponge: an open-source Python method and tool. It scores candidate species × positions on one site from LiDAR crowns, terrain (D8 water flow), sun and design storms, then optimises the layout under the city's own rules (15% species cap, sidewalk width → tree size).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Two front-ends: Grasshopper for computational designers, a web app for planners.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Validated in Porta (Barcelona); Florence / Mataró as transfer test.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TRL ≈ 3–4: proof of concept in simulation.</a:t>
            </a:r>
            <a:endParaRPr sz="850">
              <a:solidFill>
                <a:srgbClr val="1F2937"/>
              </a:solidFill>
            </a:endParaRPr>
          </a:p>
        </p:txBody>
      </p:sp>
      <p:sp>
        <p:nvSpPr>
          <p:cNvPr id="264" name="TextBox 6"/>
          <p:cNvSpPr txBox="1"/>
          <p:nvPr/>
        </p:nvSpPr>
        <p:spPr>
          <a:xfrm>
            <a:off x="2641600" y="660400"/>
            <a:ext cx="22352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11827"/>
                </a:solidFill>
              </a:rPr>
              <a:t>OUTPUT</a:t>
            </a:r>
            <a:endParaRPr sz="850" b="1">
              <a:solidFill>
                <a:srgbClr val="111827"/>
              </a:solidFill>
            </a:endParaRPr>
          </a:p>
        </p:txBody>
      </p:sp>
      <p:sp>
        <p:nvSpPr>
          <p:cNvPr id="265" name="Rectangle 7"/>
          <p:cNvSpPr/>
          <p:nvPr/>
        </p:nvSpPr>
        <p:spPr>
          <a:xfrm>
            <a:off x="4927600" y="609600"/>
            <a:ext cx="2336800" cy="317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04800" rIns="76200" bIns="76200" anchor="t"/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Technological: designers compare layouts (S0–S4) in hours instead of one manual Ladybug run per option.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Environmental: the trade-off of each tree position becomes visible: summer shade (benefit), winter shade (cost), runoff.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Scientific: an open, reproducible method; every parameter is sourced or marked as an assumption.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Impact level: demonstrated early (simulation + designer feedback).</a:t>
            </a:r>
            <a:endParaRPr sz="850">
              <a:solidFill>
                <a:srgbClr val="1F2937"/>
              </a:solidFill>
            </a:endParaRPr>
          </a:p>
        </p:txBody>
      </p:sp>
      <p:sp>
        <p:nvSpPr>
          <p:cNvPr id="266" name="TextBox 8"/>
          <p:cNvSpPr txBox="1"/>
          <p:nvPr/>
        </p:nvSpPr>
        <p:spPr>
          <a:xfrm>
            <a:off x="4978400" y="660400"/>
            <a:ext cx="22352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11827"/>
                </a:solidFill>
              </a:rPr>
              <a:t>SHORT-TERM OUTCOMES (thesis)</a:t>
            </a:r>
            <a:endParaRPr sz="850" b="1">
              <a:solidFill>
                <a:srgbClr val="111827"/>
              </a:solidFill>
            </a:endParaRPr>
          </a:p>
        </p:txBody>
      </p:sp>
      <p:sp>
        <p:nvSpPr>
          <p:cNvPr id="267" name="Rectangle 9"/>
          <p:cNvSpPr/>
          <p:nvPr/>
        </p:nvSpPr>
        <p:spPr>
          <a:xfrm>
            <a:off x="7264400" y="609600"/>
            <a:ext cx="2336800" cy="317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04800" rIns="76200" bIns="76200" anchor="t"/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Industrial: landscape and design studios use the tool in public-space projects and tenders.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Governance / economic: the municipal tree department uses the outputs to justify replacement choices and green budgets with numbers.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Replication: a second Mediterranean city runs with only a new data adapter.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Impact level: expected (reasoned pathway, not yet tested).</a:t>
            </a:r>
            <a:endParaRPr sz="850">
              <a:solidFill>
                <a:srgbClr val="1F2937"/>
              </a:solidFill>
            </a:endParaRPr>
          </a:p>
        </p:txBody>
      </p:sp>
      <p:sp>
        <p:nvSpPr>
          <p:cNvPr id="268" name="TextBox 10"/>
          <p:cNvSpPr txBox="1"/>
          <p:nvPr/>
        </p:nvSpPr>
        <p:spPr>
          <a:xfrm>
            <a:off x="7315200" y="660400"/>
            <a:ext cx="22352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11827"/>
                </a:solidFill>
              </a:rPr>
              <a:t>MEDIUM-TERM OUTCOMES (1–3 yrs)</a:t>
            </a:r>
            <a:endParaRPr sz="850" b="1">
              <a:solidFill>
                <a:srgbClr val="111827"/>
              </a:solidFill>
            </a:endParaRPr>
          </a:p>
        </p:txBody>
      </p:sp>
      <p:sp>
        <p:nvSpPr>
          <p:cNvPr id="269" name="Rectangle 11"/>
          <p:cNvSpPr/>
          <p:nvPr/>
        </p:nvSpPr>
        <p:spPr>
          <a:xfrm>
            <a:off x="9601200" y="609600"/>
            <a:ext cx="2336800" cy="317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04800" rIns="76200" bIns="76200" anchor="t"/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Environmental: lower street UTCI on hot days; less pluvial runoff to the sewers; more species diversity.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Social: heat relief in dense neighbourhoods where people walk and wait outdoors.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Economic: green vs grey drainage decisions argued with numbers.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Practice: trait-based placement becomes standard in Mediterranean tree master plans.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Impact level: potential.</a:t>
            </a:r>
            <a:endParaRPr sz="850">
              <a:solidFill>
                <a:srgbClr val="1F2937"/>
              </a:solidFill>
            </a:endParaRPr>
          </a:p>
        </p:txBody>
      </p:sp>
      <p:sp>
        <p:nvSpPr>
          <p:cNvPr id="270" name="TextBox 12"/>
          <p:cNvSpPr txBox="1"/>
          <p:nvPr/>
        </p:nvSpPr>
        <p:spPr>
          <a:xfrm>
            <a:off x="9652000" y="660400"/>
            <a:ext cx="22352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11827"/>
                </a:solidFill>
              </a:rPr>
              <a:t>LONG-TERM IMPACT (3–10+ yrs)</a:t>
            </a:r>
            <a:endParaRPr sz="850" b="1">
              <a:solidFill>
                <a:srgbClr val="111827"/>
              </a:solidFill>
            </a:endParaRPr>
          </a:p>
        </p:txBody>
      </p:sp>
      <p:sp>
        <p:nvSpPr>
          <p:cNvPr id="271" name="Rectangle 13"/>
          <p:cNvSpPr/>
          <p:nvPr/>
        </p:nvSpPr>
        <p:spPr>
          <a:xfrm>
            <a:off x="254000" y="3784600"/>
            <a:ext cx="2336800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04800" rIns="76200" bIns="76200" anchor="t"/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The LiDAR crown / LAI proxy is good enough (no independent LAI data to check it yet).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The fast heat proxy ranks layouts the same way as Ladybug UTCI.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SCS-CN + canopy interception (1.75 mm per unit LAI, calibrated on Anys &amp; Weiler 2024) holds at 1 m street scale.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Trait data exist for the candidate species.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New trees reach the modelled crown size.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Designers and the city will adopt a recommendation tool.</a:t>
            </a:r>
            <a:endParaRPr sz="850">
              <a:solidFill>
                <a:srgbClr val="1F2937"/>
              </a:solidFill>
            </a:endParaRPr>
          </a:p>
        </p:txBody>
      </p:sp>
      <p:sp>
        <p:nvSpPr>
          <p:cNvPr id="272" name="TextBox 14"/>
          <p:cNvSpPr txBox="1"/>
          <p:nvPr/>
        </p:nvSpPr>
        <p:spPr>
          <a:xfrm>
            <a:off x="304800" y="3835400"/>
            <a:ext cx="22352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11827"/>
                </a:solidFill>
              </a:rPr>
              <a:t>ASSUMPTIONS</a:t>
            </a:r>
            <a:endParaRPr sz="850" b="1">
              <a:solidFill>
                <a:srgbClr val="111827"/>
              </a:solidFill>
            </a:endParaRPr>
          </a:p>
        </p:txBody>
      </p:sp>
      <p:sp>
        <p:nvSpPr>
          <p:cNvPr id="273" name="Rectangle 15"/>
          <p:cNvSpPr/>
          <p:nvPr/>
        </p:nvSpPr>
        <p:spPr>
          <a:xfrm>
            <a:off x="2590800" y="3784600"/>
            <a:ext cx="2336800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04800" rIns="76200" bIns="76200" anchor="t"/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False precision: model results read as measured facts in public decisions.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Homogenisation: everyone plants the same 'optimal' species.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Healthy trees felled early because the model ranks them low.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Gains oversold: tree effects are small next to grey drainage in big storms.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Equity: optimising hotspots may leave other streets behind.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Data licences (non-commercial or unknown) limit reuse; the tool may age fast.</a:t>
            </a:r>
            <a:endParaRPr sz="850">
              <a:solidFill>
                <a:srgbClr val="1F2937"/>
              </a:solidFill>
            </a:endParaRPr>
          </a:p>
        </p:txBody>
      </p:sp>
      <p:sp>
        <p:nvSpPr>
          <p:cNvPr id="274" name="TextBox 16"/>
          <p:cNvSpPr txBox="1"/>
          <p:nvPr/>
        </p:nvSpPr>
        <p:spPr>
          <a:xfrm>
            <a:off x="2641600" y="3835400"/>
            <a:ext cx="22352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11827"/>
                </a:solidFill>
              </a:rPr>
              <a:t>RISKS</a:t>
            </a:r>
            <a:endParaRPr sz="850" b="1">
              <a:solidFill>
                <a:srgbClr val="111827"/>
              </a:solidFill>
            </a:endParaRPr>
          </a:p>
        </p:txBody>
      </p:sp>
      <p:sp>
        <p:nvSpPr>
          <p:cNvPr id="275" name="Rectangle 17"/>
          <p:cNvSpPr/>
          <p:nvPr/>
        </p:nvSpPr>
        <p:spPr>
          <a:xfrm>
            <a:off x="4927600" y="3784600"/>
            <a:ext cx="2336800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04800" rIns="76200" bIns="76200" anchor="t"/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Δ mean UTCI, 12–17 h, hot design day, vs S1 (the city's own replacement rule = ex-ante baseline).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Δ runoff volume and peak for the design storm vs S1.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Rank agreement: fast proxy vs Ladybug UTCI.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Runtime per scenario.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Share of layouts that meet all city rules.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Designer usability score (qualitative → 1–5 scale).</a:t>
            </a:r>
            <a:endParaRPr sz="850">
              <a:solidFill>
                <a:srgbClr val="1F2937"/>
              </a:solidFill>
            </a:endParaRPr>
          </a:p>
        </p:txBody>
      </p:sp>
      <p:sp>
        <p:nvSpPr>
          <p:cNvPr id="276" name="TextBox 18"/>
          <p:cNvSpPr txBox="1"/>
          <p:nvPr/>
        </p:nvSpPr>
        <p:spPr>
          <a:xfrm>
            <a:off x="4978400" y="3835400"/>
            <a:ext cx="22352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11827"/>
                </a:solidFill>
              </a:rPr>
              <a:t>POTENTIAL INDICATORS</a:t>
            </a:r>
            <a:endParaRPr sz="850" b="1">
              <a:solidFill>
                <a:srgbClr val="111827"/>
              </a:solidFill>
            </a:endParaRPr>
          </a:p>
        </p:txBody>
      </p:sp>
      <p:sp>
        <p:nvSpPr>
          <p:cNvPr id="277" name="Rectangle 19"/>
          <p:cNvSpPr/>
          <p:nvPr/>
        </p:nvSpPr>
        <p:spPr>
          <a:xfrm>
            <a:off x="7264400" y="3784600"/>
            <a:ext cx="2336800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04800" rIns="76200" bIns="76200" anchor="t"/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Number of studios / projects using the tool.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Municipal decisions or reports that cite its outputs.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Days to set up a new city (data adapter).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Transfer test: proxy vs Ladybug agreement in Florence / Mataró.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Open-source use: forks, issues, downloads.</a:t>
            </a:r>
            <a:endParaRPr sz="850">
              <a:solidFill>
                <a:srgbClr val="1F2937"/>
              </a:solidFill>
            </a:endParaRPr>
          </a:p>
        </p:txBody>
      </p:sp>
      <p:sp>
        <p:nvSpPr>
          <p:cNvPr id="278" name="TextBox 20"/>
          <p:cNvSpPr txBox="1"/>
          <p:nvPr/>
        </p:nvSpPr>
        <p:spPr>
          <a:xfrm>
            <a:off x="7315200" y="3835400"/>
            <a:ext cx="22352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11827"/>
                </a:solidFill>
              </a:rPr>
              <a:t>POTENTIAL INDICATORS</a:t>
            </a:r>
            <a:endParaRPr sz="850" b="1">
              <a:solidFill>
                <a:srgbClr val="111827"/>
              </a:solidFill>
            </a:endParaRPr>
          </a:p>
        </p:txBody>
      </p:sp>
      <p:sp>
        <p:nvSpPr>
          <p:cNvPr id="279" name="Rectangle 21"/>
          <p:cNvSpPr/>
          <p:nvPr/>
        </p:nvSpPr>
        <p:spPr>
          <a:xfrm>
            <a:off x="9601200" y="3784600"/>
            <a:ext cx="2336800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04800" rIns="76200" bIns="76200" anchor="t"/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Porta canopy cover: 20.1% today → city target 30% (benchmark).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Share of the dominant species vs the city-wide 15% cap.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Measured summer street temperature / UTCI before vs after planting.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Pluvial flooding incidents and complaints.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Species diversity (Shannon index).</a:t>
            </a:r>
            <a:endParaRPr sz="850">
              <a:solidFill>
                <a:srgbClr val="1F2937"/>
              </a:solidFill>
            </a:endParaRP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</a:rPr>
              <a:t>Note: beyond the thesis timeframe.</a:t>
            </a:r>
            <a:endParaRPr sz="850">
              <a:solidFill>
                <a:srgbClr val="1F2937"/>
              </a:solidFill>
            </a:endParaRPr>
          </a:p>
        </p:txBody>
      </p:sp>
      <p:sp>
        <p:nvSpPr>
          <p:cNvPr id="280" name="TextBox 22"/>
          <p:cNvSpPr txBox="1"/>
          <p:nvPr/>
        </p:nvSpPr>
        <p:spPr>
          <a:xfrm>
            <a:off x="9652000" y="3835400"/>
            <a:ext cx="22352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11827"/>
                </a:solidFill>
              </a:rPr>
              <a:t>POTENTIAL INDICATORS</a:t>
            </a:r>
            <a:endParaRPr sz="8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